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1097280"/>
          </a:xfrm>
          <a:prstGeom prst="rect">
            <a:avLst/>
          </a:prstGeom>
          <a:solidFill>
            <a:srgbClr val="1A1A2E"/>
          </a:solidFill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E9C46A"/>
                </a:solidFill>
              </a:rPr>
              <a:t>The Surprising Effectiveness of PPO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606040"/>
            <a:ext cx="10698480" cy="731520"/>
          </a:xfrm>
          <a:prstGeom prst="rect">
            <a:avLst/>
          </a:prstGeom>
          <a:solidFill>
            <a:srgbClr val="1A1A2E"/>
          </a:solidFill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in Cooperative Multi-Agent Games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0" y="3429000"/>
            <a:ext cx="7589520" cy="36576"/>
          </a:xfrm>
          <a:prstGeom prst="rect">
            <a:avLst/>
          </a:prstGeom>
          <a:solidFill>
            <a:srgbClr val="E9C4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10698480" cy="640080"/>
          </a:xfrm>
          <a:prstGeom prst="rect">
            <a:avLst/>
          </a:prstGeom>
          <a:solidFill>
            <a:srgbClr val="1A1A2E"/>
          </a:solidFill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CCDDEE"/>
                </a:solidFill>
              </a:rPr>
              <a:t>MAPPO  vs.  IPPO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343400"/>
            <a:ext cx="10698480" cy="502920"/>
          </a:xfrm>
          <a:prstGeom prst="rect">
            <a:avLst/>
          </a:prstGeom>
          <a:solidFill>
            <a:srgbClr val="1A1A2E"/>
          </a:solidFill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CCDDEE"/>
                </a:solidFill>
              </a:rPr>
              <a:t>MPE Simple Spread  ·  MPE Speaker-Listener  ·  Hanabi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120640"/>
            <a:ext cx="10698480" cy="457200"/>
          </a:xfrm>
          <a:prstGeom prst="rect">
            <a:avLst/>
          </a:prstGeom>
          <a:solidFill>
            <a:srgbClr val="1A1A2E"/>
          </a:solidFill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8899AA"/>
                </a:solidFill>
              </a:rPr>
              <a:t>5-Minute Project Demo  |  Reproduction Study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F3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685800"/>
          </a:xfrm>
          <a:prstGeom prst="rect">
            <a:avLst/>
          </a:prstGeom>
          <a:solidFill>
            <a:srgbClr val="0F3E7E"/>
          </a:solidFill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Project Purpose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10972800" cy="411480"/>
          </a:xfrm>
          <a:prstGeom prst="rect">
            <a:avLst/>
          </a:prstGeom>
          <a:solidFill>
            <a:srgbClr val="0F3E7E"/>
          </a:solidFill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9C46A"/>
                </a:solidFill>
              </a:rPr>
              <a:t>Why study PPO in cooperative multi-agent settings?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47120" cy="1234440"/>
          </a:xfrm>
          <a:prstGeom prst="rect">
            <a:avLst/>
          </a:prstGeom>
          <a:solidFill>
            <a:srgbClr val="1A1A2E"/>
          </a:solidFill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FFFFFF"/>
                </a:solidFill>
              </a:rPr>
              <a:t>  The original MAPPO paper (Yu et al., 2022) claimed that PPO-based methods are surprisingly
  competitive with — or superior to — more complex MARL algorithms.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51760"/>
            <a:ext cx="11247120" cy="1234440"/>
          </a:xfrm>
          <a:prstGeom prst="rect">
            <a:avLst/>
          </a:prstGeom>
          <a:solidFill>
            <a:srgbClr val="1A1A2E"/>
          </a:solidFill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FFFFFF"/>
                </a:solidFill>
              </a:rPr>
              <a:t>  Goal: Reproduce the paper's key results on three benchmark environments to validate
  whether simple PPO-style training generalizes across task types.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886200"/>
            <a:ext cx="11247120" cy="1234440"/>
          </a:xfrm>
          <a:prstGeom prst="rect">
            <a:avLst/>
          </a:prstGeom>
          <a:solidFill>
            <a:srgbClr val="1A1A2E"/>
          </a:solidFill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FFFFFF"/>
                </a:solidFill>
              </a:rPr>
              <a:t>  We compare MAPPO (centralized critic) vs. IPPO (decentralized) to measure whether
  sharing global state information during training produces better cooperative behavior.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120640"/>
            <a:ext cx="11247120" cy="1234440"/>
          </a:xfrm>
          <a:prstGeom prst="rect">
            <a:avLst/>
          </a:prstGeom>
          <a:solidFill>
            <a:srgbClr val="1A1A2E"/>
          </a:solidFill>
        </p:spPr>
        <p:txBody>
          <a:bodyPr wrap="square">
            <a:spAutoFit/>
          </a:bodyPr>
          <a:lstStyle/>
          <a:p>
            <a:pPr algn="l"/>
            <a:r>
              <a:rPr sz="1900" b="0">
                <a:solidFill>
                  <a:srgbClr val="FFFFFF"/>
                </a:solidFill>
              </a:rPr>
              <a:t>  Environments span three distinct cooperation challenges:
    • Coordination in physical space (MPE simple_spread)
    • Explicit communication under role specialization (MPE speaker-listener)
    • Implicit signaling under full partial-observability (Hanabi)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F3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685800"/>
          </a:xfrm>
          <a:prstGeom prst="rect">
            <a:avLst/>
          </a:prstGeom>
          <a:solidFill>
            <a:srgbClr val="0F3E7E"/>
          </a:solidFill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Algorithms at a Glance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10972800" cy="411480"/>
          </a:xfrm>
          <a:prstGeom prst="rect">
            <a:avLst/>
          </a:prstGeom>
          <a:solidFill>
            <a:srgbClr val="0F3E7E"/>
          </a:solidFill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9C46A"/>
                </a:solidFill>
              </a:rPr>
              <a:t>Centralized training vs. decentralized execution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5577840" cy="411480"/>
          </a:xfrm>
          <a:prstGeom prst="rect">
            <a:avLst/>
          </a:prstGeom>
          <a:solidFill>
            <a:srgbClr val="264E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126480" y="1417320"/>
            <a:ext cx="5577840" cy="411480"/>
          </a:xfrm>
          <a:prstGeom prst="rect">
            <a:avLst/>
          </a:prstGeom>
          <a:solidFill>
            <a:srgbClr val="E76F5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417320"/>
            <a:ext cx="5577840" cy="411480"/>
          </a:xfrm>
          <a:prstGeom prst="rect">
            <a:avLst/>
          </a:prstGeom>
          <a:solidFill>
            <a:srgbClr val="264ECC"/>
          </a:solidFill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  Centralized-Critic (CTDE) Algorithms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1417320"/>
            <a:ext cx="5577840" cy="411480"/>
          </a:xfrm>
          <a:prstGeom prst="rect">
            <a:avLst/>
          </a:prstGeom>
          <a:solidFill>
            <a:srgbClr val="E76F51"/>
          </a:solidFill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</a:rPr>
              <a:t>  Decentralized / Independent Algorithms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828800"/>
            <a:ext cx="5486400" cy="457200"/>
          </a:xfrm>
          <a:prstGeom prst="rect">
            <a:avLst/>
          </a:prstGeom>
          <a:solidFill>
            <a:srgbClr val="1A1A2E"/>
          </a:solidFill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MAPPO (Multi-Agent PPO)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286000"/>
            <a:ext cx="5486400" cy="457200"/>
          </a:xfrm>
          <a:prstGeom prst="rect">
            <a:avLst/>
          </a:prstGeom>
          <a:solidFill>
            <a:srgbClr val="1A1A2E"/>
          </a:solidFill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Each agent has its own actor network that only uses local
observations at execution time.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743200"/>
            <a:ext cx="5486400" cy="457200"/>
          </a:xfrm>
          <a:prstGeom prst="rect">
            <a:avLst/>
          </a:prstGeom>
          <a:solidFill>
            <a:srgbClr val="1A1A2E"/>
          </a:solidFill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A single shared critic sees the full joint state — all agents'
positions, velocities, and goals — during training only.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" y="3200400"/>
            <a:ext cx="5486400" cy="457200"/>
          </a:xfrm>
          <a:prstGeom prst="rect">
            <a:avLst/>
          </a:prstGeom>
          <a:solidFill>
            <a:srgbClr val="1A1A2E"/>
          </a:solidFill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This is Centralized Training, Decentralized Execution (CTDE).
The critic is discarded after training; only actors are deployed.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1828800"/>
            <a:ext cx="5486400" cy="457200"/>
          </a:xfrm>
          <a:prstGeom prst="rect">
            <a:avLst/>
          </a:prstGeom>
          <a:solidFill>
            <a:srgbClr val="1A1A2E"/>
          </a:solidFill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IPPO (Independent PPO)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286000"/>
            <a:ext cx="5486400" cy="457200"/>
          </a:xfrm>
          <a:prstGeom prst="rect">
            <a:avLst/>
          </a:prstGeom>
          <a:solidFill>
            <a:srgbClr val="1A1A2E"/>
          </a:solidFill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Each agent has its own actor and its own private critic.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743200"/>
            <a:ext cx="5486400" cy="457200"/>
          </a:xfrm>
          <a:prstGeom prst="rect">
            <a:avLst/>
          </a:prstGeom>
          <a:solidFill>
            <a:srgbClr val="1A1A2E"/>
          </a:solidFill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The critic only sees that agent's local observation —
it has no knowledge of teammates' positions or intentions.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3200400"/>
            <a:ext cx="5486400" cy="457200"/>
          </a:xfrm>
          <a:prstGeom prst="rect">
            <a:avLst/>
          </a:prstGeom>
          <a:solidFill>
            <a:srgbClr val="1A1A2E"/>
          </a:solidFill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Agents train in parallel, fully independently. Simpler, but
blind to what teammates are doing during training.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F3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685800"/>
          </a:xfrm>
          <a:prstGeom prst="rect">
            <a:avLst/>
          </a:prstGeom>
          <a:solidFill>
            <a:srgbClr val="0F3E7E"/>
          </a:solidFill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10972800" cy="411480"/>
          </a:xfrm>
          <a:prstGeom prst="rect">
            <a:avLst/>
          </a:prstGeom>
          <a:solidFill>
            <a:srgbClr val="0F3E7E"/>
          </a:solidFill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9C46A"/>
                </a:solidFill>
              </a:rPr>
              <a:t>Reproduction study — how we matched the original paper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47120" cy="658368"/>
          </a:xfrm>
          <a:prstGeom prst="rect">
            <a:avLst/>
          </a:prstGeom>
          <a:solidFill>
            <a:srgbClr val="1A1A2E"/>
          </a:solidFill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Codebase: Official MAPPO repo (marlbenchmark/on-policy) — no architecture changes.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075688"/>
            <a:ext cx="11247120" cy="658368"/>
          </a:xfrm>
          <a:prstGeom prst="rect">
            <a:avLst/>
          </a:prstGeom>
          <a:solidFill>
            <a:srgbClr val="1A1A2E"/>
          </a:solidFill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Training:  Google Colab A100 GPU · 128 rollout threads · TensorBoard logging · results saved to Google Drive.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34056"/>
            <a:ext cx="11247120" cy="658368"/>
          </a:xfrm>
          <a:prstGeom prst="rect">
            <a:avLst/>
          </a:prstGeom>
          <a:solidFill>
            <a:srgbClr val="1A1A2E"/>
          </a:solidFill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TC 1 — MPE simple_spread:  2 M env steps run (paper: 25 M) · MAPPO vs IPPO · 3 agents · reward = −Σ dist(agent,landmark).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392424"/>
            <a:ext cx="11247120" cy="658368"/>
          </a:xfrm>
          <a:prstGeom prst="rect">
            <a:avLst/>
          </a:prstGeom>
          <a:solidFill>
            <a:srgbClr val="1A1A2E"/>
          </a:solidFill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TC 2 — MPE speaker_listener:  2 M steps run (paper: 25 M) · MAPPO vs IPPO · 1 speaker + 1 listener.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050792"/>
            <a:ext cx="11247120" cy="658368"/>
          </a:xfrm>
          <a:prstGeom prst="rect">
            <a:avLst/>
          </a:prstGeom>
          <a:solidFill>
            <a:srgbClr val="1A1A2E"/>
          </a:solidFill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TC 3 — Hanabi-Very-Small:  5 M steps run (paper: 10 M+) · MAPPO only · 2 agents · max score = 5.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709160"/>
            <a:ext cx="11247120" cy="658368"/>
          </a:xfrm>
          <a:prstGeom prst="rect">
            <a:avLst/>
          </a:prstGeom>
          <a:solidFill>
            <a:srgbClr val="1A1A2E"/>
          </a:solidFill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Step budget limited by Colab session time: TC1 capped at 32 threads → 25 M steps would need ~8 hrs per run.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367528"/>
            <a:ext cx="11247120" cy="658368"/>
          </a:xfrm>
          <a:prstGeom prst="rect">
            <a:avLst/>
          </a:prstGeom>
          <a:solidFill>
            <a:srgbClr val="1A1A2E"/>
          </a:solidFill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Metrics:  Average episode reward (MPE) and average game score (Hanabi) vs. environment steps.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F3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685800"/>
          </a:xfrm>
          <a:prstGeom prst="rect">
            <a:avLst/>
          </a:prstGeom>
          <a:solidFill>
            <a:srgbClr val="0F3E7E"/>
          </a:solidFill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Test Case 1 — MPE simple_spread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10972800" cy="411480"/>
          </a:xfrm>
          <a:prstGeom prst="rect">
            <a:avLst/>
          </a:prstGeom>
          <a:solidFill>
            <a:srgbClr val="0F3E7E"/>
          </a:solidFill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9C46A"/>
                </a:solidFill>
              </a:rPr>
              <a:t>MAPPO (centralized critic) vs IPPO (decentralized) · 3 agents cover 3 landmarks</a:t>
            </a:r>
          </a:p>
        </p:txBody>
      </p:sp>
      <p:pic>
        <p:nvPicPr>
          <p:cNvPr id="5" name="Picture 4" descr="cell13_im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17320"/>
            <a:ext cx="11612880" cy="42976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5806440"/>
            <a:ext cx="12188952" cy="1051560"/>
          </a:xfrm>
          <a:prstGeom prst="rect">
            <a:avLst/>
          </a:prstGeom>
          <a:solidFill>
            <a:srgbClr val="1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5852160"/>
            <a:ext cx="11521440" cy="914400"/>
          </a:xfrm>
          <a:prstGeom prst="rect">
            <a:avLst/>
          </a:prstGeom>
          <a:solidFill>
            <a:srgbClr val="102850"/>
          </a:solidFill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DEE"/>
                </a:solidFill>
              </a:rPr>
              <a:t>Our results (2 M steps):  MAPPO −125  |  IPPO −126  →  near-tie, gap not yet visible
Paper results (25 M steps):  MAPPO ~−85  |  IPPO ~−110  →  ~25-point MAPPO lead
Why the difference: TC1 was capped at 32 rollout threads; reaching 25 M steps would require ~8 hrs per run on Colab — beyond session limits.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F3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685800"/>
          </a:xfrm>
          <a:prstGeom prst="rect">
            <a:avLst/>
          </a:prstGeom>
          <a:solidFill>
            <a:srgbClr val="0F3E7E"/>
          </a:solidFill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Test Case 2 — MPE simple_speaker_listener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10972800" cy="411480"/>
          </a:xfrm>
          <a:prstGeom prst="rect">
            <a:avLst/>
          </a:prstGeom>
          <a:solidFill>
            <a:srgbClr val="0F3E7E"/>
          </a:solidFill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9C46A"/>
                </a:solidFill>
              </a:rPr>
              <a:t>Communication under role specialization · MAPPO vs IPPO</a:t>
            </a:r>
          </a:p>
        </p:txBody>
      </p:sp>
      <p:pic>
        <p:nvPicPr>
          <p:cNvPr id="5" name="Picture 4" descr="cell21_im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417320"/>
            <a:ext cx="5715000" cy="4297680"/>
          </a:xfrm>
          <a:prstGeom prst="rect">
            <a:avLst/>
          </a:prstGeom>
        </p:spPr>
      </p:pic>
      <p:pic>
        <p:nvPicPr>
          <p:cNvPr id="6" name="Picture 5" descr="cell21_img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417320"/>
            <a:ext cx="5715000" cy="42976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0" y="5806440"/>
            <a:ext cx="12188952" cy="1051560"/>
          </a:xfrm>
          <a:prstGeom prst="rect">
            <a:avLst/>
          </a:prstGeom>
          <a:solidFill>
            <a:srgbClr val="1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5852160"/>
            <a:ext cx="11521440" cy="914400"/>
          </a:xfrm>
          <a:prstGeom prst="rect">
            <a:avLst/>
          </a:prstGeom>
          <a:solidFill>
            <a:srgbClr val="102850"/>
          </a:solidFill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DEE"/>
                </a:solidFill>
              </a:rPr>
              <a:t>Our results (2 M steps):  MAPPO −13.25  |  IPPO −14.96  →  MAPPO ahead by ~12%
Paper results (25 M steps):  MAPPO ~−12  |  IPPO ~−17  →  MAPPO ahead by ~30%
Closest match to paper: direction and order-of-magnitude correct even at reduced training.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F3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685800"/>
          </a:xfrm>
          <a:prstGeom prst="rect">
            <a:avLst/>
          </a:prstGeom>
          <a:solidFill>
            <a:srgbClr val="0F3E7E"/>
          </a:solidFill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Test Case 3 — Hanabi-Very-Small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10972800" cy="411480"/>
          </a:xfrm>
          <a:prstGeom prst="rect">
            <a:avLst/>
          </a:prstGeom>
          <a:solidFill>
            <a:srgbClr val="0F3E7E"/>
          </a:solidFill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9C46A"/>
                </a:solidFill>
              </a:rPr>
              <a:t>Implicit communication under full partial observability · 2 agents, max score = 5</a:t>
            </a:r>
          </a:p>
        </p:txBody>
      </p:sp>
      <p:pic>
        <p:nvPicPr>
          <p:cNvPr id="5" name="Picture 4" descr="cell27_im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17320"/>
            <a:ext cx="11612880" cy="42976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5806440"/>
            <a:ext cx="12188952" cy="1051560"/>
          </a:xfrm>
          <a:prstGeom prst="rect">
            <a:avLst/>
          </a:prstGeom>
          <a:solidFill>
            <a:srgbClr val="1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5852160"/>
            <a:ext cx="11521440" cy="914400"/>
          </a:xfrm>
          <a:prstGeom prst="rect">
            <a:avLst/>
          </a:prstGeom>
          <a:solidFill>
            <a:srgbClr val="102850"/>
          </a:solidFill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DEE"/>
                </a:solidFill>
              </a:rPr>
              <a:t>Our results (5 M steps):  Train score 1.90 / 5  |  Eval score 0.73 / 5  →  large train/eval gap
Paper results (10 M+ steps):  Train ~2.5–3.0 / 5  →  agents still improving, more steps needed
Eval gap likely due to underfitting: agents haven't fully generalized hint conventions at 5 M steps.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F3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685800"/>
          </a:xfrm>
          <a:prstGeom prst="rect">
            <a:avLst/>
          </a:prstGeom>
          <a:solidFill>
            <a:srgbClr val="0F3E7E"/>
          </a:solidFill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Summary — All Three Test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10972800" cy="411480"/>
          </a:xfrm>
          <a:prstGeom prst="rect">
            <a:avLst/>
          </a:prstGeom>
          <a:solidFill>
            <a:srgbClr val="0F3E7E"/>
          </a:solidFill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9C46A"/>
                </a:solidFill>
              </a:rPr>
              <a:t>Training curves and final performance across environments</a:t>
            </a:r>
          </a:p>
        </p:txBody>
      </p:sp>
      <p:pic>
        <p:nvPicPr>
          <p:cNvPr id="5" name="Picture 4" descr="cell29_im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17320"/>
            <a:ext cx="1161288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F3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685800"/>
          </a:xfrm>
          <a:prstGeom prst="rect">
            <a:avLst/>
          </a:prstGeom>
          <a:solidFill>
            <a:srgbClr val="0F3E7E"/>
          </a:solidFill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Results vs. Paper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10972800" cy="411480"/>
          </a:xfrm>
          <a:prstGeom prst="rect">
            <a:avLst/>
          </a:prstGeom>
          <a:solidFill>
            <a:srgbClr val="0F3E7E"/>
          </a:solidFill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9C46A"/>
                </a:solidFill>
              </a:rPr>
              <a:t>Yu et al. (2022) at 25 M steps  vs.  our reproduction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1417320"/>
            <a:ext cx="1280160" cy="566928"/>
          </a:xfrm>
          <a:prstGeom prst="rect">
            <a:avLst/>
          </a:prstGeom>
          <a:solidFill>
            <a:srgbClr val="0F3E7E"/>
          </a:solidFill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/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554480" y="1417320"/>
            <a:ext cx="1097280" cy="566928"/>
          </a:xfrm>
          <a:prstGeom prst="rect">
            <a:avLst/>
          </a:prstGeom>
          <a:solidFill>
            <a:srgbClr val="0F3E7E"/>
          </a:solidFill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Our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0" y="1417320"/>
            <a:ext cx="1097280" cy="566928"/>
          </a:xfrm>
          <a:prstGeom prst="rect">
            <a:avLst/>
          </a:prstGeom>
          <a:solidFill>
            <a:srgbClr val="0F3E7E"/>
          </a:solidFill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Paper steps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1417320"/>
            <a:ext cx="1234440" cy="566928"/>
          </a:xfrm>
          <a:prstGeom prst="rect">
            <a:avLst/>
          </a:prstGeom>
          <a:solidFill>
            <a:srgbClr val="0F3E7E"/>
          </a:solidFill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Our MAPPO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57800" y="1417320"/>
            <a:ext cx="1234440" cy="566928"/>
          </a:xfrm>
          <a:prstGeom prst="rect">
            <a:avLst/>
          </a:prstGeom>
          <a:solidFill>
            <a:srgbClr val="0F3E7E"/>
          </a:solidFill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Paper MAPPO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417320"/>
            <a:ext cx="1234440" cy="566928"/>
          </a:xfrm>
          <a:prstGeom prst="rect">
            <a:avLst/>
          </a:prstGeom>
          <a:solidFill>
            <a:srgbClr val="0F3E7E"/>
          </a:solidFill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Our IPPO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1417320"/>
            <a:ext cx="1234440" cy="566928"/>
          </a:xfrm>
          <a:prstGeom prst="rect">
            <a:avLst/>
          </a:prstGeom>
          <a:solidFill>
            <a:srgbClr val="0F3E7E"/>
          </a:solidFill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Paper IPPO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0" y="1417320"/>
            <a:ext cx="2651760" cy="566928"/>
          </a:xfrm>
          <a:prstGeom prst="rect">
            <a:avLst/>
          </a:prstGeom>
          <a:solidFill>
            <a:srgbClr val="0F3E7E"/>
          </a:solidFill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Direction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" y="1984248"/>
            <a:ext cx="1280160" cy="566928"/>
          </a:xfrm>
          <a:prstGeom prst="rect">
            <a:avLst/>
          </a:prstGeom>
          <a:solidFill>
            <a:srgbClr val="1E2A45"/>
          </a:solidFill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CCDDEE"/>
                </a:solidFill>
              </a:rPr>
              <a:t>TC1
spread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1984248"/>
            <a:ext cx="1097280" cy="566928"/>
          </a:xfrm>
          <a:prstGeom prst="rect">
            <a:avLst/>
          </a:prstGeom>
          <a:solidFill>
            <a:srgbClr val="1E2A45"/>
          </a:solidFill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CCDDEE"/>
                </a:solidFill>
              </a:rPr>
              <a:t>2 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1984248"/>
            <a:ext cx="1097280" cy="566928"/>
          </a:xfrm>
          <a:prstGeom prst="rect">
            <a:avLst/>
          </a:prstGeom>
          <a:solidFill>
            <a:srgbClr val="1E2A45"/>
          </a:solidFill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CCDDEE"/>
                </a:solidFill>
              </a:rPr>
              <a:t>25 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1984248"/>
            <a:ext cx="1234440" cy="566928"/>
          </a:xfrm>
          <a:prstGeom prst="rect">
            <a:avLst/>
          </a:prstGeom>
          <a:solidFill>
            <a:srgbClr val="1E2A45"/>
          </a:solidFill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CCDDEE"/>
                </a:solidFill>
              </a:rPr>
              <a:t>−125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57800" y="1984248"/>
            <a:ext cx="1234440" cy="566928"/>
          </a:xfrm>
          <a:prstGeom prst="rect">
            <a:avLst/>
          </a:prstGeom>
          <a:solidFill>
            <a:srgbClr val="1E2A45"/>
          </a:solidFill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CCDDEE"/>
                </a:solidFill>
              </a:rPr>
              <a:t>~−85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1984248"/>
            <a:ext cx="1234440" cy="566928"/>
          </a:xfrm>
          <a:prstGeom prst="rect">
            <a:avLst/>
          </a:prstGeom>
          <a:solidFill>
            <a:srgbClr val="1E2A45"/>
          </a:solidFill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CCDDEE"/>
                </a:solidFill>
              </a:rPr>
              <a:t>−126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79" y="1984248"/>
            <a:ext cx="1234440" cy="566928"/>
          </a:xfrm>
          <a:prstGeom prst="rect">
            <a:avLst/>
          </a:prstGeom>
          <a:solidFill>
            <a:srgbClr val="1E2A45"/>
          </a:solidFill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CCDDEE"/>
                </a:solidFill>
              </a:rPr>
              <a:t>~−110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1984248"/>
            <a:ext cx="2651760" cy="566928"/>
          </a:xfrm>
          <a:prstGeom prst="rect">
            <a:avLst/>
          </a:prstGeom>
          <a:solidFill>
            <a:srgbClr val="1E2A45"/>
          </a:solidFill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C107"/>
                </a:solidFill>
              </a:rPr>
              <a:t>Partial
(not enough steps)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" y="2551176"/>
            <a:ext cx="1280160" cy="566928"/>
          </a:xfrm>
          <a:prstGeom prst="rect">
            <a:avLst/>
          </a:prstGeom>
          <a:solidFill>
            <a:srgbClr val="16213E"/>
          </a:solidFill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CCDDEE"/>
                </a:solidFill>
              </a:rPr>
              <a:t>TC2
speaker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54480" y="2551176"/>
            <a:ext cx="1097280" cy="566928"/>
          </a:xfrm>
          <a:prstGeom prst="rect">
            <a:avLst/>
          </a:prstGeom>
          <a:solidFill>
            <a:srgbClr val="16213E"/>
          </a:solidFill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CCDDEE"/>
                </a:solidFill>
              </a:rPr>
              <a:t>2 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2551176"/>
            <a:ext cx="1097280" cy="566928"/>
          </a:xfrm>
          <a:prstGeom prst="rect">
            <a:avLst/>
          </a:prstGeom>
          <a:solidFill>
            <a:srgbClr val="16213E"/>
          </a:solidFill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CCDDEE"/>
                </a:solidFill>
              </a:rPr>
              <a:t>25 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31920" y="2551176"/>
            <a:ext cx="1234440" cy="566928"/>
          </a:xfrm>
          <a:prstGeom prst="rect">
            <a:avLst/>
          </a:prstGeom>
          <a:solidFill>
            <a:srgbClr val="16213E"/>
          </a:solidFill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CCDDEE"/>
                </a:solidFill>
              </a:rPr>
              <a:t>−13.3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57800" y="2551176"/>
            <a:ext cx="1234440" cy="566928"/>
          </a:xfrm>
          <a:prstGeom prst="rect">
            <a:avLst/>
          </a:prstGeom>
          <a:solidFill>
            <a:srgbClr val="16213E"/>
          </a:solidFill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CCDDEE"/>
                </a:solidFill>
              </a:rPr>
              <a:t>~−12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2551176"/>
            <a:ext cx="1234440" cy="566928"/>
          </a:xfrm>
          <a:prstGeom prst="rect">
            <a:avLst/>
          </a:prstGeom>
          <a:solidFill>
            <a:srgbClr val="16213E"/>
          </a:solidFill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CCDDEE"/>
                </a:solidFill>
              </a:rPr>
              <a:t>−15.0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79" y="2551176"/>
            <a:ext cx="1234440" cy="566928"/>
          </a:xfrm>
          <a:prstGeom prst="rect">
            <a:avLst/>
          </a:prstGeom>
          <a:solidFill>
            <a:srgbClr val="16213E"/>
          </a:solidFill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CCDDEE"/>
                </a:solidFill>
              </a:rPr>
              <a:t>~−17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0" y="2551176"/>
            <a:ext cx="2651760" cy="566928"/>
          </a:xfrm>
          <a:prstGeom prst="rect">
            <a:avLst/>
          </a:prstGeom>
          <a:solidFill>
            <a:srgbClr val="16213E"/>
          </a:solidFill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4CAF50"/>
                </a:solidFill>
              </a:rPr>
              <a:t>Match
(MAPPO wins)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2880" y="3118104"/>
            <a:ext cx="1280160" cy="566928"/>
          </a:xfrm>
          <a:prstGeom prst="rect">
            <a:avLst/>
          </a:prstGeom>
          <a:solidFill>
            <a:srgbClr val="1E2A45"/>
          </a:solidFill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CCDDEE"/>
                </a:solidFill>
              </a:rPr>
              <a:t>TC3
Hanabi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54480" y="3118104"/>
            <a:ext cx="1097280" cy="566928"/>
          </a:xfrm>
          <a:prstGeom prst="rect">
            <a:avLst/>
          </a:prstGeom>
          <a:solidFill>
            <a:srgbClr val="1E2A45"/>
          </a:solidFill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CCDDEE"/>
                </a:solidFill>
              </a:rPr>
              <a:t>5 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0" y="3118104"/>
            <a:ext cx="1097280" cy="566928"/>
          </a:xfrm>
          <a:prstGeom prst="rect">
            <a:avLst/>
          </a:prstGeom>
          <a:solidFill>
            <a:srgbClr val="1E2A45"/>
          </a:solidFill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CCDDEE"/>
                </a:solidFill>
              </a:rPr>
              <a:t>10 M+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31920" y="3118104"/>
            <a:ext cx="1234440" cy="566928"/>
          </a:xfrm>
          <a:prstGeom prst="rect">
            <a:avLst/>
          </a:prstGeom>
          <a:solidFill>
            <a:srgbClr val="1E2A45"/>
          </a:solidFill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CCDDEE"/>
                </a:solidFill>
              </a:rPr>
              <a:t>1.90/5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57800" y="3118104"/>
            <a:ext cx="1234440" cy="566928"/>
          </a:xfrm>
          <a:prstGeom prst="rect">
            <a:avLst/>
          </a:prstGeom>
          <a:solidFill>
            <a:srgbClr val="1E2A45"/>
          </a:solidFill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CCDDEE"/>
                </a:solidFill>
              </a:rPr>
              <a:t>~2.5/5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83680" y="3118104"/>
            <a:ext cx="1234440" cy="566928"/>
          </a:xfrm>
          <a:prstGeom prst="rect">
            <a:avLst/>
          </a:prstGeom>
          <a:solidFill>
            <a:srgbClr val="1E2A45"/>
          </a:solidFill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CCDDEE"/>
                </a:solidFill>
              </a:rPr>
              <a:t>N/A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55279" y="3118104"/>
            <a:ext cx="1234440" cy="566928"/>
          </a:xfrm>
          <a:prstGeom prst="rect">
            <a:avLst/>
          </a:prstGeom>
          <a:solidFill>
            <a:srgbClr val="1E2A45"/>
          </a:solidFill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CCDDEE"/>
                </a:solidFill>
              </a:rPr>
              <a:t>N/A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0" y="3118104"/>
            <a:ext cx="2651760" cy="566928"/>
          </a:xfrm>
          <a:prstGeom prst="rect">
            <a:avLst/>
          </a:prstGeom>
          <a:solidFill>
            <a:srgbClr val="1E2A45"/>
          </a:solidFill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C107"/>
                </a:solidFill>
              </a:rPr>
              <a:t>Partial
(underfitting)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4114800"/>
            <a:ext cx="12188952" cy="2697480"/>
          </a:xfrm>
          <a:prstGeom prst="rect">
            <a:avLst/>
          </a:prstGeom>
          <a:solidFill>
            <a:srgbClr val="0D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20040" y="4187952"/>
            <a:ext cx="11521440" cy="2514600"/>
          </a:xfrm>
          <a:prstGeom prst="rect">
            <a:avLst/>
          </a:prstGeom>
          <a:solidFill>
            <a:srgbClr val="0D1E36"/>
          </a:solidFill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CCDDEE"/>
                </a:solidFill>
              </a:rPr>
              <a:t>Why our results don't fully match the paper:
  1. Step budget — We ran 2 M steps for MPE vs. the paper's 25 M (8% of the training). MAPPO's advantage over IPPO
      is an emergent, long-horizon effect that only becomes visible after sustained training.
  2. Colab session limits — TC1 was capped at 32 rollout threads (vs. 128 for TC2) due to environment constraints.
      Reaching 25 M steps at that rate would require ~8 hours per run — beyond a single Colab session.
  3. Hanabi underfitting — 5 M steps is insufficient; the train/eval gap (1.90 vs. 0.73) shows agents
      haven't generalized hint conventions. More training would close the gap.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F3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685800"/>
          </a:xfrm>
          <a:prstGeom prst="rect">
            <a:avLst/>
          </a:prstGeom>
          <a:solidFill>
            <a:srgbClr val="0F3E7E"/>
          </a:solidFill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MAPPO vs. Off-Policy Baselines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10972800" cy="411480"/>
          </a:xfrm>
          <a:prstGeom prst="rect">
            <a:avLst/>
          </a:prstGeom>
          <a:solidFill>
            <a:srgbClr val="0F3E7E"/>
          </a:solidFill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9C46A"/>
                </a:solidFill>
              </a:rPr>
              <a:t>Yu et al. (2022) — our MAPPO (2 M/5 M steps) vs. paper's off-policy algorithms (25 M steps)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417320"/>
            <a:ext cx="11731752" cy="320040"/>
          </a:xfrm>
          <a:prstGeom prst="rect">
            <a:avLst/>
          </a:prstGeom>
          <a:solidFill>
            <a:srgbClr val="0F3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" y="1417320"/>
            <a:ext cx="11731752" cy="320040"/>
          </a:xfrm>
          <a:prstGeom prst="rect">
            <a:avLst/>
          </a:prstGeom>
          <a:solidFill>
            <a:srgbClr val="0F3E7E"/>
          </a:solidFill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9C46A"/>
                </a:solidFill>
              </a:rPr>
              <a:t>  MPE Environments  (episode reward — higher = better, paper Fig. 1 at 25 M steps)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" y="1755648"/>
            <a:ext cx="1920240" cy="484632"/>
          </a:xfrm>
          <a:prstGeom prst="rect">
            <a:avLst/>
          </a:prstGeom>
          <a:solidFill>
            <a:srgbClr val="103060"/>
          </a:solidFill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Environment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755648"/>
            <a:ext cx="1645920" cy="484632"/>
          </a:xfrm>
          <a:prstGeom prst="rect">
            <a:avLst/>
          </a:prstGeom>
          <a:solidFill>
            <a:srgbClr val="103060"/>
          </a:solidFill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Our MAPPO
(2 M steps)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977639" y="1755648"/>
            <a:ext cx="1645920" cy="484632"/>
          </a:xfrm>
          <a:prstGeom prst="rect">
            <a:avLst/>
          </a:prstGeom>
          <a:solidFill>
            <a:srgbClr val="103060"/>
          </a:solidFill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Paper MAPPO
(25 M steps)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15000" y="1755648"/>
            <a:ext cx="1645920" cy="484632"/>
          </a:xfrm>
          <a:prstGeom prst="rect">
            <a:avLst/>
          </a:prstGeom>
          <a:solidFill>
            <a:srgbClr val="103060"/>
          </a:solidFill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QMIX
(25 M steps)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52360" y="1755648"/>
            <a:ext cx="1645920" cy="484632"/>
          </a:xfrm>
          <a:prstGeom prst="rect">
            <a:avLst/>
          </a:prstGeom>
          <a:solidFill>
            <a:srgbClr val="103060"/>
          </a:solidFill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MADDPG
(25 M steps)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89720" y="1755648"/>
            <a:ext cx="2788920" cy="484632"/>
          </a:xfrm>
          <a:prstGeom prst="rect">
            <a:avLst/>
          </a:prstGeom>
          <a:solidFill>
            <a:srgbClr val="103060"/>
          </a:solidFill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PPO vs.
Off-Policy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8600" y="2240280"/>
            <a:ext cx="1920240" cy="484632"/>
          </a:xfrm>
          <a:prstGeom prst="rect">
            <a:avLst/>
          </a:prstGeom>
          <a:solidFill>
            <a:srgbClr val="1A2842"/>
          </a:solidFill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DDEE"/>
                </a:solidFill>
              </a:rPr>
              <a:t>TC1: simple_spread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40280" y="2240280"/>
            <a:ext cx="1645920" cy="484632"/>
          </a:xfrm>
          <a:prstGeom prst="rect">
            <a:avLst/>
          </a:prstGeom>
          <a:solidFill>
            <a:srgbClr val="1A2842"/>
          </a:solidFill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DDEE"/>
                </a:solidFill>
              </a:rPr>
              <a:t>−125 (early)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77639" y="2240280"/>
            <a:ext cx="1645920" cy="484632"/>
          </a:xfrm>
          <a:prstGeom prst="rect">
            <a:avLst/>
          </a:prstGeom>
          <a:solidFill>
            <a:srgbClr val="1A2842"/>
          </a:solidFill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DDEE"/>
                </a:solidFill>
              </a:rPr>
              <a:t>~−85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0" y="2240280"/>
            <a:ext cx="1645920" cy="484632"/>
          </a:xfrm>
          <a:prstGeom prst="rect">
            <a:avLst/>
          </a:prstGeom>
          <a:solidFill>
            <a:srgbClr val="1A2842"/>
          </a:solidFill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DDEE"/>
                </a:solidFill>
              </a:rPr>
              <a:t>~−100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52360" y="2240280"/>
            <a:ext cx="1645920" cy="484632"/>
          </a:xfrm>
          <a:prstGeom prst="rect">
            <a:avLst/>
          </a:prstGeom>
          <a:solidFill>
            <a:srgbClr val="1A2842"/>
          </a:solidFill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DDEE"/>
                </a:solidFill>
              </a:rPr>
              <a:t>~−135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89720" y="2240280"/>
            <a:ext cx="2788920" cy="484632"/>
          </a:xfrm>
          <a:prstGeom prst="rect">
            <a:avLst/>
          </a:prstGeom>
          <a:solidFill>
            <a:srgbClr val="1A2842"/>
          </a:solidFill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9C46A"/>
                </a:solidFill>
              </a:rPr>
              <a:t>Matches / beats at convergence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28600" y="2724912"/>
            <a:ext cx="1920240" cy="484632"/>
          </a:xfrm>
          <a:prstGeom prst="rect">
            <a:avLst/>
          </a:prstGeom>
          <a:solidFill>
            <a:srgbClr val="141E38"/>
          </a:solidFill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DDEE"/>
                </a:solidFill>
              </a:rPr>
              <a:t>TC2: speaker_listener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2724912"/>
            <a:ext cx="1645920" cy="484632"/>
          </a:xfrm>
          <a:prstGeom prst="rect">
            <a:avLst/>
          </a:prstGeom>
          <a:solidFill>
            <a:srgbClr val="141E38"/>
          </a:solidFill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DDEE"/>
                </a:solidFill>
              </a:rPr>
              <a:t>−13.3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77639" y="2724912"/>
            <a:ext cx="1645920" cy="484632"/>
          </a:xfrm>
          <a:prstGeom prst="rect">
            <a:avLst/>
          </a:prstGeom>
          <a:solidFill>
            <a:srgbClr val="141E38"/>
          </a:solidFill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DDEE"/>
                </a:solidFill>
              </a:rPr>
              <a:t>~−12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15000" y="2724912"/>
            <a:ext cx="1645920" cy="484632"/>
          </a:xfrm>
          <a:prstGeom prst="rect">
            <a:avLst/>
          </a:prstGeom>
          <a:solidFill>
            <a:srgbClr val="141E38"/>
          </a:solidFill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DDEE"/>
                </a:solidFill>
              </a:rPr>
              <a:t>~−22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52360" y="2724912"/>
            <a:ext cx="1645920" cy="484632"/>
          </a:xfrm>
          <a:prstGeom prst="rect">
            <a:avLst/>
          </a:prstGeom>
          <a:solidFill>
            <a:srgbClr val="141E38"/>
          </a:solidFill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DDEE"/>
                </a:solidFill>
              </a:rPr>
              <a:t>~−75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89720" y="2724912"/>
            <a:ext cx="2788920" cy="484632"/>
          </a:xfrm>
          <a:prstGeom prst="rect">
            <a:avLst/>
          </a:prstGeom>
          <a:solidFill>
            <a:srgbClr val="141E38"/>
          </a:solidFill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CAF50"/>
                </a:solidFill>
              </a:rPr>
              <a:t>Beats both off-policy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8600" y="3035808"/>
            <a:ext cx="11731752" cy="320040"/>
          </a:xfrm>
          <a:prstGeom prst="rect">
            <a:avLst/>
          </a:prstGeom>
          <a:solidFill>
            <a:srgbClr val="0F3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28600" y="3035808"/>
            <a:ext cx="11731752" cy="320040"/>
          </a:xfrm>
          <a:prstGeom prst="rect">
            <a:avLst/>
          </a:prstGeom>
          <a:solidFill>
            <a:srgbClr val="0F3E7E"/>
          </a:solidFill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9C46A"/>
                </a:solidFill>
              </a:rPr>
              <a:t>  Hanabi  (full game, max score = 25 — paper Table 3;  our TC3 used Hanabi-Very-Small, max = 5)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8600" y="3374136"/>
            <a:ext cx="1920240" cy="420624"/>
          </a:xfrm>
          <a:prstGeom prst="rect">
            <a:avLst/>
          </a:prstGeom>
          <a:solidFill>
            <a:srgbClr val="103060"/>
          </a:solidFill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Config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240280" y="3374136"/>
            <a:ext cx="1645920" cy="420624"/>
          </a:xfrm>
          <a:prstGeom prst="rect">
            <a:avLst/>
          </a:prstGeom>
          <a:solidFill>
            <a:srgbClr val="103060"/>
          </a:solidFill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MAPPO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77639" y="3374136"/>
            <a:ext cx="1645920" cy="420624"/>
          </a:xfrm>
          <a:prstGeom prst="rect">
            <a:avLst/>
          </a:prstGeom>
          <a:solidFill>
            <a:srgbClr val="103060"/>
          </a:solidFill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IPPO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715000" y="3374136"/>
            <a:ext cx="1645920" cy="420624"/>
          </a:xfrm>
          <a:prstGeom prst="rect">
            <a:avLst/>
          </a:prstGeom>
          <a:solidFill>
            <a:srgbClr val="103060"/>
          </a:solidFill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SAD
(off-policy)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452360" y="3374136"/>
            <a:ext cx="1645920" cy="420624"/>
          </a:xfrm>
          <a:prstGeom prst="rect">
            <a:avLst/>
          </a:prstGeom>
          <a:solidFill>
            <a:srgbClr val="103060"/>
          </a:solidFill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VDN
(off-policy)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89720" y="3374136"/>
            <a:ext cx="2788920" cy="420624"/>
          </a:xfrm>
          <a:prstGeom prst="rect">
            <a:avLst/>
          </a:prstGeom>
          <a:solidFill>
            <a:srgbClr val="103060"/>
          </a:solidFill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</a:rPr>
              <a:t>PPO vs. Off-Policy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28600" y="3794760"/>
            <a:ext cx="1920240" cy="420624"/>
          </a:xfrm>
          <a:prstGeom prst="rect">
            <a:avLst/>
          </a:prstGeom>
          <a:solidFill>
            <a:srgbClr val="1A2842"/>
          </a:solidFill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DDEE"/>
                </a:solidFill>
              </a:rPr>
              <a:t>2-player (paper)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240280" y="3794760"/>
            <a:ext cx="1645920" cy="420624"/>
          </a:xfrm>
          <a:prstGeom prst="rect">
            <a:avLst/>
          </a:prstGeom>
          <a:solidFill>
            <a:srgbClr val="1A2842"/>
          </a:solidFill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DDEE"/>
                </a:solidFill>
              </a:rPr>
              <a:t>23.89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977639" y="3794760"/>
            <a:ext cx="1645920" cy="420624"/>
          </a:xfrm>
          <a:prstGeom prst="rect">
            <a:avLst/>
          </a:prstGeom>
          <a:solidFill>
            <a:srgbClr val="1A2842"/>
          </a:solidFill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DDEE"/>
                </a:solidFill>
              </a:rPr>
              <a:t>24.00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15000" y="3794760"/>
            <a:ext cx="1645920" cy="420624"/>
          </a:xfrm>
          <a:prstGeom prst="rect">
            <a:avLst/>
          </a:prstGeom>
          <a:solidFill>
            <a:srgbClr val="1A2842"/>
          </a:solidFill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DDEE"/>
                </a:solidFill>
              </a:rPr>
              <a:t>23.87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52360" y="3794760"/>
            <a:ext cx="1645920" cy="420624"/>
          </a:xfrm>
          <a:prstGeom prst="rect">
            <a:avLst/>
          </a:prstGeom>
          <a:solidFill>
            <a:srgbClr val="1A2842"/>
          </a:solidFill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DDEE"/>
                </a:solidFill>
              </a:rPr>
              <a:t>23.83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189720" y="3794760"/>
            <a:ext cx="2788920" cy="420624"/>
          </a:xfrm>
          <a:prstGeom prst="rect">
            <a:avLst/>
          </a:prstGeom>
          <a:solidFill>
            <a:srgbClr val="1A2842"/>
          </a:solidFill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CAF50"/>
                </a:solidFill>
              </a:rPr>
              <a:t>Competitive / superior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28600" y="4215384"/>
            <a:ext cx="1920240" cy="420624"/>
          </a:xfrm>
          <a:prstGeom prst="rect">
            <a:avLst/>
          </a:prstGeom>
          <a:solidFill>
            <a:srgbClr val="141E38"/>
          </a:solidFill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DDEE"/>
                </a:solidFill>
              </a:rPr>
              <a:t>3-player (paper)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240280" y="4215384"/>
            <a:ext cx="1645920" cy="420624"/>
          </a:xfrm>
          <a:prstGeom prst="rect">
            <a:avLst/>
          </a:prstGeom>
          <a:solidFill>
            <a:srgbClr val="141E38"/>
          </a:solidFill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DDEE"/>
                </a:solidFill>
              </a:rPr>
              <a:t>23.77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977639" y="4215384"/>
            <a:ext cx="1645920" cy="420624"/>
          </a:xfrm>
          <a:prstGeom prst="rect">
            <a:avLst/>
          </a:prstGeom>
          <a:solidFill>
            <a:srgbClr val="141E38"/>
          </a:solidFill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DDEE"/>
                </a:solidFill>
              </a:rPr>
              <a:t>23.25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715000" y="4215384"/>
            <a:ext cx="1645920" cy="420624"/>
          </a:xfrm>
          <a:prstGeom prst="rect">
            <a:avLst/>
          </a:prstGeom>
          <a:solidFill>
            <a:srgbClr val="141E38"/>
          </a:solidFill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DDEE"/>
                </a:solidFill>
              </a:rPr>
              <a:t>23.69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52360" y="4215384"/>
            <a:ext cx="1645920" cy="420624"/>
          </a:xfrm>
          <a:prstGeom prst="rect">
            <a:avLst/>
          </a:prstGeom>
          <a:solidFill>
            <a:srgbClr val="141E38"/>
          </a:solidFill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DDEE"/>
                </a:solidFill>
              </a:rPr>
              <a:t>23.71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89720" y="4215384"/>
            <a:ext cx="2788920" cy="420624"/>
          </a:xfrm>
          <a:prstGeom prst="rect">
            <a:avLst/>
          </a:prstGeom>
          <a:solidFill>
            <a:srgbClr val="141E38"/>
          </a:solidFill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CAF50"/>
                </a:solidFill>
              </a:rPr>
              <a:t>Competitive / superior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28600" y="4636008"/>
            <a:ext cx="1920240" cy="420624"/>
          </a:xfrm>
          <a:prstGeom prst="rect">
            <a:avLst/>
          </a:prstGeom>
          <a:solidFill>
            <a:srgbClr val="1A2842"/>
          </a:solidFill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DDEE"/>
                </a:solidFill>
              </a:rPr>
              <a:t>5-player (paper)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240280" y="4636008"/>
            <a:ext cx="1645920" cy="420624"/>
          </a:xfrm>
          <a:prstGeom prst="rect">
            <a:avLst/>
          </a:prstGeom>
          <a:solidFill>
            <a:srgbClr val="1A2842"/>
          </a:solidFill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DDEE"/>
                </a:solidFill>
              </a:rPr>
              <a:t>23.04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977639" y="4636008"/>
            <a:ext cx="1645920" cy="420624"/>
          </a:xfrm>
          <a:prstGeom prst="rect">
            <a:avLst/>
          </a:prstGeom>
          <a:solidFill>
            <a:srgbClr val="1A2842"/>
          </a:solidFill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DDEE"/>
                </a:solidFill>
              </a:rPr>
              <a:t>20.75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715000" y="4636008"/>
            <a:ext cx="1645920" cy="420624"/>
          </a:xfrm>
          <a:prstGeom prst="rect">
            <a:avLst/>
          </a:prstGeom>
          <a:solidFill>
            <a:srgbClr val="1A2842"/>
          </a:solidFill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DDEE"/>
                </a:solidFill>
              </a:rPr>
              <a:t>22.06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52360" y="4636008"/>
            <a:ext cx="1645920" cy="420624"/>
          </a:xfrm>
          <a:prstGeom prst="rect">
            <a:avLst/>
          </a:prstGeom>
          <a:solidFill>
            <a:srgbClr val="1A2842"/>
          </a:solidFill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DDEE"/>
                </a:solidFill>
              </a:rPr>
              <a:t>21.28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89720" y="4636008"/>
            <a:ext cx="2788920" cy="420624"/>
          </a:xfrm>
          <a:prstGeom prst="rect">
            <a:avLst/>
          </a:prstGeom>
          <a:solidFill>
            <a:srgbClr val="1A2842"/>
          </a:solidFill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CAF50"/>
                </a:solidFill>
              </a:rPr>
              <a:t>Beats all (best algo)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28600" y="5056632"/>
            <a:ext cx="1920240" cy="420624"/>
          </a:xfrm>
          <a:prstGeom prst="rect">
            <a:avLst/>
          </a:prstGeom>
          <a:solidFill>
            <a:srgbClr val="141E38"/>
          </a:solidFill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DDEE"/>
                </a:solidFill>
              </a:rPr>
              <a:t>Our TC3 (V-Small)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240280" y="5056632"/>
            <a:ext cx="1645920" cy="420624"/>
          </a:xfrm>
          <a:prstGeom prst="rect">
            <a:avLst/>
          </a:prstGeom>
          <a:solidFill>
            <a:srgbClr val="141E38"/>
          </a:solidFill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DDEE"/>
                </a:solidFill>
              </a:rPr>
              <a:t>1.90/5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977639" y="5056632"/>
            <a:ext cx="1645920" cy="420624"/>
          </a:xfrm>
          <a:prstGeom prst="rect">
            <a:avLst/>
          </a:prstGeom>
          <a:solidFill>
            <a:srgbClr val="141E38"/>
          </a:solidFill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DDEE"/>
                </a:solidFill>
              </a:rPr>
              <a:t>  —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715000" y="5056632"/>
            <a:ext cx="1645920" cy="420624"/>
          </a:xfrm>
          <a:prstGeom prst="rect">
            <a:avLst/>
          </a:prstGeom>
          <a:solidFill>
            <a:srgbClr val="141E38"/>
          </a:solidFill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DDEE"/>
                </a:solidFill>
              </a:rPr>
              <a:t>  —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452360" y="5056632"/>
            <a:ext cx="1645920" cy="420624"/>
          </a:xfrm>
          <a:prstGeom prst="rect">
            <a:avLst/>
          </a:prstGeom>
          <a:solidFill>
            <a:srgbClr val="141E38"/>
          </a:solidFill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CCDDEE"/>
                </a:solidFill>
              </a:rPr>
              <a:t>  —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189720" y="5056632"/>
            <a:ext cx="2788920" cy="420624"/>
          </a:xfrm>
          <a:prstGeom prst="rect">
            <a:avLst/>
          </a:prstGeom>
          <a:solidFill>
            <a:srgbClr val="141E38"/>
          </a:solidFill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E9C46A"/>
                </a:solidFill>
              </a:rPr>
              <a:t>On trajectory at 5 M steps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0" y="6080760"/>
            <a:ext cx="12188952" cy="777240"/>
          </a:xfrm>
          <a:prstGeom prst="rect">
            <a:avLst/>
          </a:prstGeom>
          <a:solidFill>
            <a:srgbClr val="0D1E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20040" y="6108192"/>
            <a:ext cx="11521440" cy="685800"/>
          </a:xfrm>
          <a:prstGeom prst="rect">
            <a:avLst/>
          </a:prstGeom>
          <a:solidFill>
            <a:srgbClr val="0D1E36"/>
          </a:solidFill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899AA"/>
                </a:solidFill>
              </a:rPr>
              <a:t>MPE values approximate from paper Fig. 1 learning curves at convergence (~25 M steps).  QMIX &amp; MADDPG are the off-policy baselines in the paper for MPE; SAD &amp; VDN for Hanabi.  Our TC3 used Hanabi-Very-Small (1 color, 5 ranks, max 5) — not directly comparable to the full-game paper table.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F3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685800"/>
          </a:xfrm>
          <a:prstGeom prst="rect">
            <a:avLst/>
          </a:prstGeom>
          <a:solidFill>
            <a:srgbClr val="0F3E7E"/>
          </a:solidFill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Analytics — Raw &amp; Smoothed Learning Curves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10972800" cy="411480"/>
          </a:xfrm>
          <a:prstGeom prst="rect">
            <a:avLst/>
          </a:prstGeom>
          <a:solidFill>
            <a:srgbClr val="0F3E7E"/>
          </a:solidFill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9C46A"/>
                </a:solidFill>
              </a:rPr>
              <a:t>All three scenarios · exponential moving average overlay</a:t>
            </a:r>
          </a:p>
        </p:txBody>
      </p:sp>
      <p:pic>
        <p:nvPicPr>
          <p:cNvPr id="5" name="Picture 4" descr="cell34_im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17320"/>
            <a:ext cx="1161288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F3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685800"/>
          </a:xfrm>
          <a:prstGeom prst="rect">
            <a:avLst/>
          </a:prstGeom>
          <a:solidFill>
            <a:srgbClr val="0F3E7E"/>
          </a:solidFill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Analytics — Training Stability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10972800" cy="411480"/>
          </a:xfrm>
          <a:prstGeom prst="rect">
            <a:avLst/>
          </a:prstGeom>
          <a:solidFill>
            <a:srgbClr val="0F3E7E"/>
          </a:solidFill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9C46A"/>
                </a:solidFill>
              </a:rPr>
              <a:t>Rolling mean ± std · variance decay over training</a:t>
            </a:r>
          </a:p>
        </p:txBody>
      </p:sp>
      <p:pic>
        <p:nvPicPr>
          <p:cNvPr id="5" name="Picture 4" descr="cell35_im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17320"/>
            <a:ext cx="1161288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F3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685800"/>
          </a:xfrm>
          <a:prstGeom prst="rect">
            <a:avLst/>
          </a:prstGeom>
          <a:solidFill>
            <a:srgbClr val="0F3E7E"/>
          </a:solidFill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Analytics — Sample Efficiency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10972800" cy="411480"/>
          </a:xfrm>
          <a:prstGeom prst="rect">
            <a:avLst/>
          </a:prstGeom>
          <a:solidFill>
            <a:srgbClr val="0F3E7E"/>
          </a:solidFill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9C46A"/>
                </a:solidFill>
              </a:rPr>
              <a:t>Steps-to-threshold · 50 / 70 / 85 / 95% of peak performance</a:t>
            </a:r>
          </a:p>
        </p:txBody>
      </p:sp>
      <p:pic>
        <p:nvPicPr>
          <p:cNvPr id="5" name="Picture 4" descr="cell36_im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17320"/>
            <a:ext cx="1161288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F3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685800"/>
          </a:xfrm>
          <a:prstGeom prst="rect">
            <a:avLst/>
          </a:prstGeom>
          <a:solidFill>
            <a:srgbClr val="0F3E7E"/>
          </a:solidFill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Analytics — Per-Agent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10972800" cy="411480"/>
          </a:xfrm>
          <a:prstGeom prst="rect">
            <a:avLst/>
          </a:prstGeom>
          <a:solidFill>
            <a:srgbClr val="0F3E7E"/>
          </a:solidFill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9C46A"/>
                </a:solidFill>
              </a:rPr>
              <a:t>Speaker vs Listener reward breakdown (TC2)</a:t>
            </a:r>
          </a:p>
        </p:txBody>
      </p:sp>
      <p:pic>
        <p:nvPicPr>
          <p:cNvPr id="5" name="Picture 4" descr="cell37_im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17320"/>
            <a:ext cx="1161288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F3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685800"/>
          </a:xfrm>
          <a:prstGeom prst="rect">
            <a:avLst/>
          </a:prstGeom>
          <a:solidFill>
            <a:srgbClr val="0F3E7E"/>
          </a:solidFill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Analytics — Convergence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10972800" cy="411480"/>
          </a:xfrm>
          <a:prstGeom prst="rect">
            <a:avLst/>
          </a:prstGeom>
          <a:solidFill>
            <a:srgbClr val="0F3E7E"/>
          </a:solidFill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9C46A"/>
                </a:solidFill>
              </a:rPr>
              <a:t>Improvement rate, variance decay, gradient trends</a:t>
            </a:r>
          </a:p>
        </p:txBody>
      </p:sp>
      <p:pic>
        <p:nvPicPr>
          <p:cNvPr id="5" name="Picture 4" descr="cell38_im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17320"/>
            <a:ext cx="1161288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F3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685800"/>
          </a:xfrm>
          <a:prstGeom prst="rect">
            <a:avLst/>
          </a:prstGeom>
          <a:solidFill>
            <a:srgbClr val="0F3E7E"/>
          </a:solidFill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Analytics — Cross-Scenario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10972800" cy="411480"/>
          </a:xfrm>
          <a:prstGeom prst="rect">
            <a:avLst/>
          </a:prstGeom>
          <a:solidFill>
            <a:srgbClr val="0F3E7E"/>
          </a:solidFill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9C46A"/>
                </a:solidFill>
              </a:rPr>
              <a:t>Final performance &amp; relative gains across all environments</a:t>
            </a:r>
          </a:p>
        </p:txBody>
      </p:sp>
      <p:pic>
        <p:nvPicPr>
          <p:cNvPr id="5" name="Picture 4" descr="cell39_im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17320"/>
            <a:ext cx="1161288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F3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685800"/>
          </a:xfrm>
          <a:prstGeom prst="rect">
            <a:avLst/>
          </a:prstGeom>
          <a:solidFill>
            <a:srgbClr val="0F3E7E"/>
          </a:solidFill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Analytics — Hanabi 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10972800" cy="411480"/>
          </a:xfrm>
          <a:prstGeom prst="rect">
            <a:avLst/>
          </a:prstGeom>
          <a:solidFill>
            <a:srgbClr val="0F3E7E"/>
          </a:solidFill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9C46A"/>
                </a:solidFill>
              </a:rPr>
              <a:t>Score distribution, train/eval gap, score progression</a:t>
            </a:r>
          </a:p>
        </p:txBody>
      </p:sp>
      <p:pic>
        <p:nvPicPr>
          <p:cNvPr id="5" name="Picture 4" descr="cell40_im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17320"/>
            <a:ext cx="1161288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F3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685800"/>
          </a:xfrm>
          <a:prstGeom prst="rect">
            <a:avLst/>
          </a:prstGeom>
          <a:solidFill>
            <a:srgbClr val="0F3E7E"/>
          </a:solidFill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Model Architecture &amp; Hyperparameter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10972800" cy="411480"/>
          </a:xfrm>
          <a:prstGeom prst="rect">
            <a:avLst/>
          </a:prstGeom>
          <a:solidFill>
            <a:srgbClr val="0F3E7E"/>
          </a:solidFill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9C46A"/>
                </a:solidFill>
              </a:rPr>
              <a:t>Network design and training configuration used across experiments</a:t>
            </a:r>
          </a:p>
        </p:txBody>
      </p:sp>
      <p:pic>
        <p:nvPicPr>
          <p:cNvPr id="5" name="Picture 4" descr="cell41_im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17320"/>
            <a:ext cx="1161288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F3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685800"/>
          </a:xfrm>
          <a:prstGeom prst="rect">
            <a:avLst/>
          </a:prstGeom>
          <a:solidFill>
            <a:srgbClr val="0F3E7E"/>
          </a:solidFill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Numeric Metrics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10972800" cy="411480"/>
          </a:xfrm>
          <a:prstGeom prst="rect">
            <a:avLst/>
          </a:prstGeom>
          <a:solidFill>
            <a:srgbClr val="0F3E7E"/>
          </a:solidFill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9C46A"/>
                </a:solidFill>
              </a:rPr>
              <a:t>Final reward, convergence step, peak performance — all scenarios</a:t>
            </a:r>
          </a:p>
        </p:txBody>
      </p:sp>
      <p:pic>
        <p:nvPicPr>
          <p:cNvPr id="5" name="Picture 4" descr="cell42_img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17320"/>
            <a:ext cx="1161288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0F3E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0972800" cy="685800"/>
          </a:xfrm>
          <a:prstGeom prst="rect">
            <a:avLst/>
          </a:prstGeom>
          <a:solidFill>
            <a:srgbClr val="0F3E7E"/>
          </a:solidFill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Key Takeaways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77240"/>
            <a:ext cx="10972800" cy="411480"/>
          </a:xfrm>
          <a:prstGeom prst="rect">
            <a:avLst/>
          </a:prstGeom>
          <a:solidFill>
            <a:srgbClr val="0F3E7E"/>
          </a:solidFill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E9C46A"/>
                </a:solidFill>
              </a:rPr>
              <a:t>What the reproduction confirmed — and where it fell short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1247120" cy="1078992"/>
          </a:xfrm>
          <a:prstGeom prst="rect">
            <a:avLst/>
          </a:prstGeom>
          <a:solidFill>
            <a:srgbClr val="1A1A2E"/>
          </a:solidFill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TC2 (speaker-listener) most closely matches the paper: MAPPO beats IPPO at −13.3 vs −15.0,
  confirming that a centralized critic is essential for credit assignment across a communication channel.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496312"/>
            <a:ext cx="11247120" cy="1078992"/>
          </a:xfrm>
          <a:prstGeom prst="rect">
            <a:avLst/>
          </a:prstGeom>
          <a:solidFill>
            <a:srgbClr val="1A1A2E"/>
          </a:solidFill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TC1 (simple_spread) shows the right direction but not the full gap: we ran only 2 M of the paper's
  25 M steps — MAPPO's spatial coordination advantage is a long-horizon effect that needs more training.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575304"/>
            <a:ext cx="11247120" cy="1078992"/>
          </a:xfrm>
          <a:prstGeom prst="rect">
            <a:avLst/>
          </a:prstGeom>
          <a:solidFill>
            <a:srgbClr val="1A1A2E"/>
          </a:solidFill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TC3 (Hanabi) is on trajectory but underfitting at 5 M steps: train score 1.90/5 vs. paper's ~2.5/5,
  with a large train/eval gap (1.90 vs. 0.73) showing agents haven't generalized hint conventions.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654296"/>
            <a:ext cx="11247120" cy="1078992"/>
          </a:xfrm>
          <a:prstGeom prst="rect">
            <a:avLst/>
          </a:prstGeom>
          <a:solidFill>
            <a:srgbClr val="1A1A2E"/>
          </a:solidFill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The step budget was constrained by Colab session limits: TC1 capped at 32 threads would need
  ~8 hrs per run at 25 M steps — dedicated GPU compute would close the gap with the paper.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733288"/>
            <a:ext cx="11247120" cy="1078992"/>
          </a:xfrm>
          <a:prstGeom prst="rect">
            <a:avLst/>
          </a:prstGeom>
          <a:solidFill>
            <a:srgbClr val="1A1A2E"/>
          </a:solidFill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  Core finding validated: sharing global state during training produces measurably better cooperation,
  most strongly in tasks where credit assignment across agents is hardest.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